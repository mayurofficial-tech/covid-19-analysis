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embeddedFontLst>
    <p:embeddedFont>
      <p:font typeface="Marcellus"/>
      <p:regular r:id="rId20"/>
    </p:embeddedFont>
    <p:embeddedFont>
      <p:font typeface="Albert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g4/z3IJRkYB3hoOapuKRr4Ft6y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rcellus-regular.fntdata"/><Relationship Id="rId22" Type="http://schemas.openxmlformats.org/officeDocument/2006/relationships/font" Target="fonts/AlbertSans-bold.fntdata"/><Relationship Id="rId21" Type="http://schemas.openxmlformats.org/officeDocument/2006/relationships/font" Target="fonts/AlbertSans-regular.fntdata"/><Relationship Id="rId24" Type="http://schemas.openxmlformats.org/officeDocument/2006/relationships/font" Target="fonts/AlbertSans-boldItalic.fntdata"/><Relationship Id="rId23" Type="http://schemas.openxmlformats.org/officeDocument/2006/relationships/font" Target="fonts/Albert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16"/>
          <p:cNvGrpSpPr/>
          <p:nvPr/>
        </p:nvGrpSpPr>
        <p:grpSpPr>
          <a:xfrm>
            <a:off x="-8466" y="-8468"/>
            <a:ext cx="9169804" cy="6874935"/>
            <a:chOff x="-8466" y="-8468"/>
            <a:chExt cx="9169804" cy="6874935"/>
          </a:xfrm>
        </p:grpSpPr>
        <p:cxnSp>
          <p:nvCxnSpPr>
            <p:cNvPr id="28" name="Google Shape;28;p16"/>
            <p:cNvCxnSpPr/>
            <p:nvPr/>
          </p:nvCxnSpPr>
          <p:spPr>
            <a:xfrm flipH="1" rot="10800000">
              <a:off x="5130830" y="4175605"/>
              <a:ext cx="4022475" cy="2682396"/>
            </a:xfrm>
            <a:prstGeom prst="straightConnector1">
              <a:avLst/>
            </a:prstGeom>
            <a:noFill/>
            <a:ln cap="flat" cmpd="sng" w="9525">
              <a:solidFill>
                <a:srgbClr val="D8D8D8"/>
              </a:solidFill>
              <a:prstDash val="solid"/>
              <a:round/>
              <a:headEnd len="sm" w="sm" type="none"/>
              <a:tailEnd len="sm" w="sm" type="none"/>
            </a:ln>
          </p:spPr>
        </p:cxnSp>
        <p:cxnSp>
          <p:nvCxnSpPr>
            <p:cNvPr id="29" name="Google Shape;29;p16"/>
            <p:cNvCxnSpPr/>
            <p:nvPr/>
          </p:nvCxnSpPr>
          <p:spPr>
            <a:xfrm>
              <a:off x="7042707" y="0"/>
              <a:ext cx="1219200" cy="6858000"/>
            </a:xfrm>
            <a:prstGeom prst="straightConnector1">
              <a:avLst/>
            </a:prstGeom>
            <a:noFill/>
            <a:ln cap="flat" cmpd="sng" w="9525">
              <a:solidFill>
                <a:srgbClr val="BFBFBF"/>
              </a:solidFill>
              <a:prstDash val="solid"/>
              <a:round/>
              <a:headEnd len="sm" w="sm" type="none"/>
              <a:tailEnd len="sm" w="sm" type="none"/>
            </a:ln>
          </p:spPr>
        </p:cxnSp>
        <p:sp>
          <p:nvSpPr>
            <p:cNvPr id="30" name="Google Shape;30;p16"/>
            <p:cNvSpPr/>
            <p:nvPr/>
          </p:nvSpPr>
          <p:spPr>
            <a:xfrm>
              <a:off x="6891896" y="1"/>
              <a:ext cx="2269442" cy="686646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6"/>
            <p:cNvSpPr/>
            <p:nvPr/>
          </p:nvSpPr>
          <p:spPr>
            <a:xfrm>
              <a:off x="7205158" y="-8467"/>
              <a:ext cx="1948147" cy="6866467"/>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6"/>
            <p:cNvSpPr/>
            <p:nvPr/>
          </p:nvSpPr>
          <p:spPr>
            <a:xfrm>
              <a:off x="6637896" y="3920066"/>
              <a:ext cx="2513565" cy="2937933"/>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6"/>
            <p:cNvSpPr/>
            <p:nvPr/>
          </p:nvSpPr>
          <p:spPr>
            <a:xfrm>
              <a:off x="7010429" y="-8467"/>
              <a:ext cx="2142876" cy="6866467"/>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8">
                <a:alpha val="69803"/>
              </a:srgbClr>
            </a:solidFill>
            <a:ln>
              <a:noFill/>
            </a:ln>
          </p:spPr>
        </p:sp>
        <p:sp>
          <p:nvSpPr>
            <p:cNvPr id="34" name="Google Shape;34;p16"/>
            <p:cNvSpPr/>
            <p:nvPr/>
          </p:nvSpPr>
          <p:spPr>
            <a:xfrm>
              <a:off x="8295776" y="-8467"/>
              <a:ext cx="857530" cy="6866467"/>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BFE471">
                <a:alpha val="6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6"/>
            <p:cNvSpPr/>
            <p:nvPr/>
          </p:nvSpPr>
          <p:spPr>
            <a:xfrm>
              <a:off x="8077231" y="-8468"/>
              <a:ext cx="1066770" cy="6866467"/>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6"/>
            <p:cNvSpPr/>
            <p:nvPr/>
          </p:nvSpPr>
          <p:spPr>
            <a:xfrm>
              <a:off x="8060297" y="4893733"/>
              <a:ext cx="1094086"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6"/>
            <p:cNvSpPr/>
            <p:nvPr/>
          </p:nvSpPr>
          <p:spPr>
            <a:xfrm>
              <a:off x="-8466" y="-8468"/>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84705"/>
              </a:schemeClr>
            </a:solidFill>
            <a:ln>
              <a:noFill/>
            </a:ln>
          </p:spPr>
        </p:sp>
      </p:grpSp>
      <p:sp>
        <p:nvSpPr>
          <p:cNvPr id="38" name="Google Shape;38;p16"/>
          <p:cNvSpPr txBox="1"/>
          <p:nvPr>
            <p:ph type="ctrTitle"/>
          </p:nvPr>
        </p:nvSpPr>
        <p:spPr>
          <a:xfrm>
            <a:off x="1130595" y="2404534"/>
            <a:ext cx="5826719"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 type="subTitle"/>
          </p:nvPr>
        </p:nvSpPr>
        <p:spPr>
          <a:xfrm>
            <a:off x="1130595" y="4050834"/>
            <a:ext cx="5826719"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16"/>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6"/>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17"/>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7"/>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17"/>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18"/>
          <p:cNvSpPr txBox="1"/>
          <p:nvPr>
            <p:ph type="title"/>
          </p:nvPr>
        </p:nvSpPr>
        <p:spPr>
          <a:xfrm>
            <a:off x="609598" y="2700868"/>
            <a:ext cx="6347715"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8"/>
          <p:cNvSpPr txBox="1"/>
          <p:nvPr>
            <p:ph idx="1" type="body"/>
          </p:nvPr>
        </p:nvSpPr>
        <p:spPr>
          <a:xfrm>
            <a:off x="609598" y="4527448"/>
            <a:ext cx="6347715"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2" name="Google Shape;52;p18"/>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9"/>
          <p:cNvSpPr txBox="1"/>
          <p:nvPr>
            <p:ph type="title"/>
          </p:nvPr>
        </p:nvSpPr>
        <p:spPr>
          <a:xfrm>
            <a:off x="609600" y="609600"/>
            <a:ext cx="6347714"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 type="body"/>
          </p:nvPr>
        </p:nvSpPr>
        <p:spPr>
          <a:xfrm>
            <a:off x="609600" y="2160589"/>
            <a:ext cx="3088109"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8" name="Google Shape;58;p19"/>
          <p:cNvSpPr txBox="1"/>
          <p:nvPr>
            <p:ph idx="2" type="body"/>
          </p:nvPr>
        </p:nvSpPr>
        <p:spPr>
          <a:xfrm>
            <a:off x="3869204" y="2160590"/>
            <a:ext cx="3088110"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9" name="Google Shape;59;p19"/>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0"/>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 type="body"/>
          </p:nvPr>
        </p:nvSpPr>
        <p:spPr>
          <a:xfrm>
            <a:off x="609599" y="2160983"/>
            <a:ext cx="309067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20"/>
          <p:cNvSpPr txBox="1"/>
          <p:nvPr>
            <p:ph idx="2" type="body"/>
          </p:nvPr>
        </p:nvSpPr>
        <p:spPr>
          <a:xfrm>
            <a:off x="609599" y="2737246"/>
            <a:ext cx="3090672"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20"/>
          <p:cNvSpPr txBox="1"/>
          <p:nvPr>
            <p:ph idx="3" type="body"/>
          </p:nvPr>
        </p:nvSpPr>
        <p:spPr>
          <a:xfrm>
            <a:off x="3866640" y="2160983"/>
            <a:ext cx="309067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20"/>
          <p:cNvSpPr txBox="1"/>
          <p:nvPr>
            <p:ph idx="4" type="body"/>
          </p:nvPr>
        </p:nvSpPr>
        <p:spPr>
          <a:xfrm>
            <a:off x="3866640" y="2737246"/>
            <a:ext cx="3090672"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20"/>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1"/>
          <p:cNvSpPr txBox="1"/>
          <p:nvPr>
            <p:ph type="title"/>
          </p:nvPr>
        </p:nvSpPr>
        <p:spPr>
          <a:xfrm>
            <a:off x="609599" y="609600"/>
            <a:ext cx="6347714"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1"/>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22"/>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23"/>
          <p:cNvSpPr txBox="1"/>
          <p:nvPr>
            <p:ph type="title"/>
          </p:nvPr>
        </p:nvSpPr>
        <p:spPr>
          <a:xfrm>
            <a:off x="609599" y="1498604"/>
            <a:ext cx="2790182"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 type="body"/>
          </p:nvPr>
        </p:nvSpPr>
        <p:spPr>
          <a:xfrm>
            <a:off x="3571275" y="514925"/>
            <a:ext cx="3386037"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23"/>
          <p:cNvSpPr txBox="1"/>
          <p:nvPr>
            <p:ph idx="2" type="body"/>
          </p:nvPr>
        </p:nvSpPr>
        <p:spPr>
          <a:xfrm>
            <a:off x="609599" y="2777069"/>
            <a:ext cx="2790182"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840"/>
              <a:buNone/>
              <a:defRPr sz="1050"/>
            </a:lvl2pPr>
            <a:lvl3pPr indent="-228600" lvl="2" marL="1371600" algn="l">
              <a:spcBef>
                <a:spcPts val="1000"/>
              </a:spcBef>
              <a:spcAft>
                <a:spcPts val="0"/>
              </a:spcAft>
              <a:buSzPts val="720"/>
              <a:buNone/>
              <a:defRPr sz="900"/>
            </a:lvl3pPr>
            <a:lvl4pPr indent="-228600" lvl="3" marL="1828800" algn="l">
              <a:spcBef>
                <a:spcPts val="1000"/>
              </a:spcBef>
              <a:spcAft>
                <a:spcPts val="0"/>
              </a:spcAft>
              <a:buSzPts val="600"/>
              <a:buNone/>
              <a:defRPr sz="750"/>
            </a:lvl4pPr>
            <a:lvl5pPr indent="-228600" lvl="4" marL="2286000" algn="l">
              <a:spcBef>
                <a:spcPts val="1000"/>
              </a:spcBef>
              <a:spcAft>
                <a:spcPts val="0"/>
              </a:spcAft>
              <a:buSzPts val="600"/>
              <a:buNone/>
              <a:defRPr sz="750"/>
            </a:lvl5pPr>
            <a:lvl6pPr indent="-228600" lvl="5" marL="2743200" algn="l">
              <a:spcBef>
                <a:spcPts val="1000"/>
              </a:spcBef>
              <a:spcAft>
                <a:spcPts val="0"/>
              </a:spcAft>
              <a:buSzPts val="600"/>
              <a:buNone/>
              <a:defRPr sz="750"/>
            </a:lvl6pPr>
            <a:lvl7pPr indent="-228600" lvl="6" marL="3200400" algn="l">
              <a:spcBef>
                <a:spcPts val="1000"/>
              </a:spcBef>
              <a:spcAft>
                <a:spcPts val="0"/>
              </a:spcAft>
              <a:buSzPts val="600"/>
              <a:buNone/>
              <a:defRPr sz="750"/>
            </a:lvl7pPr>
            <a:lvl8pPr indent="-228600" lvl="7" marL="3657600" algn="l">
              <a:spcBef>
                <a:spcPts val="1000"/>
              </a:spcBef>
              <a:spcAft>
                <a:spcPts val="0"/>
              </a:spcAft>
              <a:buSzPts val="600"/>
              <a:buNone/>
              <a:defRPr sz="750"/>
            </a:lvl8pPr>
            <a:lvl9pPr indent="-228600" lvl="8" marL="4114800" algn="l">
              <a:spcBef>
                <a:spcPts val="1000"/>
              </a:spcBef>
              <a:spcAft>
                <a:spcPts val="0"/>
              </a:spcAft>
              <a:buSzPts val="600"/>
              <a:buNone/>
              <a:defRPr sz="750"/>
            </a:lvl9pPr>
          </a:lstStyle>
          <a:p/>
        </p:txBody>
      </p:sp>
      <p:sp>
        <p:nvSpPr>
          <p:cNvPr id="84" name="Google Shape;84;p23"/>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3"/>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24"/>
          <p:cNvSpPr txBox="1"/>
          <p:nvPr>
            <p:ph type="title"/>
          </p:nvPr>
        </p:nvSpPr>
        <p:spPr>
          <a:xfrm>
            <a:off x="609599" y="4800600"/>
            <a:ext cx="6347714"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4"/>
          <p:cNvSpPr/>
          <p:nvPr>
            <p:ph idx="2" type="pic"/>
          </p:nvPr>
        </p:nvSpPr>
        <p:spPr>
          <a:xfrm>
            <a:off x="609599" y="609600"/>
            <a:ext cx="6347714" cy="3845718"/>
          </a:xfrm>
          <a:prstGeom prst="rect">
            <a:avLst/>
          </a:prstGeom>
          <a:noFill/>
          <a:ln>
            <a:noFill/>
          </a:ln>
        </p:spPr>
      </p:sp>
      <p:sp>
        <p:nvSpPr>
          <p:cNvPr id="90" name="Google Shape;90;p24"/>
          <p:cNvSpPr txBox="1"/>
          <p:nvPr>
            <p:ph idx="1" type="body"/>
          </p:nvPr>
        </p:nvSpPr>
        <p:spPr>
          <a:xfrm>
            <a:off x="609599" y="5367338"/>
            <a:ext cx="6347714"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24"/>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4"/>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4"/>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25"/>
          <p:cNvSpPr txBox="1"/>
          <p:nvPr>
            <p:ph type="title"/>
          </p:nvPr>
        </p:nvSpPr>
        <p:spPr>
          <a:xfrm>
            <a:off x="609600" y="609600"/>
            <a:ext cx="6347714"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5"/>
          <p:cNvSpPr txBox="1"/>
          <p:nvPr>
            <p:ph idx="1" type="body"/>
          </p:nvPr>
        </p:nvSpPr>
        <p:spPr>
          <a:xfrm>
            <a:off x="609600" y="4470400"/>
            <a:ext cx="6347714"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5"/>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5"/>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5"/>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26"/>
          <p:cNvSpPr txBox="1"/>
          <p:nvPr>
            <p:ph type="title"/>
          </p:nvPr>
        </p:nvSpPr>
        <p:spPr>
          <a:xfrm>
            <a:off x="774885" y="609600"/>
            <a:ext cx="6072182"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6"/>
          <p:cNvSpPr txBox="1"/>
          <p:nvPr>
            <p:ph idx="1" type="body"/>
          </p:nvPr>
        </p:nvSpPr>
        <p:spPr>
          <a:xfrm>
            <a:off x="1101074" y="3632200"/>
            <a:ext cx="541980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6"/>
          <p:cNvSpPr txBox="1"/>
          <p:nvPr>
            <p:ph idx="2" type="body"/>
          </p:nvPr>
        </p:nvSpPr>
        <p:spPr>
          <a:xfrm>
            <a:off x="609598" y="4470400"/>
            <a:ext cx="6347715"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26"/>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6"/>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6"/>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26"/>
          <p:cNvSpPr txBox="1"/>
          <p:nvPr/>
        </p:nvSpPr>
        <p:spPr>
          <a:xfrm>
            <a:off x="482711" y="790378"/>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a:p>
        </p:txBody>
      </p:sp>
      <p:sp>
        <p:nvSpPr>
          <p:cNvPr id="108" name="Google Shape;108;p26"/>
          <p:cNvSpPr txBox="1"/>
          <p:nvPr/>
        </p:nvSpPr>
        <p:spPr>
          <a:xfrm>
            <a:off x="6747699" y="2886556"/>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27"/>
          <p:cNvSpPr txBox="1"/>
          <p:nvPr>
            <p:ph type="title"/>
          </p:nvPr>
        </p:nvSpPr>
        <p:spPr>
          <a:xfrm>
            <a:off x="609598" y="1931988"/>
            <a:ext cx="6347715"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7"/>
          <p:cNvSpPr txBox="1"/>
          <p:nvPr>
            <p:ph idx="1" type="body"/>
          </p:nvPr>
        </p:nvSpPr>
        <p:spPr>
          <a:xfrm>
            <a:off x="609598" y="4527448"/>
            <a:ext cx="6347715"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27"/>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7"/>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7"/>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28"/>
          <p:cNvSpPr txBox="1"/>
          <p:nvPr>
            <p:ph type="title"/>
          </p:nvPr>
        </p:nvSpPr>
        <p:spPr>
          <a:xfrm>
            <a:off x="774885" y="609600"/>
            <a:ext cx="6072182"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8"/>
          <p:cNvSpPr txBox="1"/>
          <p:nvPr>
            <p:ph idx="1" type="body"/>
          </p:nvPr>
        </p:nvSpPr>
        <p:spPr>
          <a:xfrm>
            <a:off x="609597" y="4013200"/>
            <a:ext cx="6347716"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28"/>
          <p:cNvSpPr txBox="1"/>
          <p:nvPr>
            <p:ph idx="2" type="body"/>
          </p:nvPr>
        </p:nvSpPr>
        <p:spPr>
          <a:xfrm>
            <a:off x="609598" y="4527448"/>
            <a:ext cx="6347715"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28"/>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8"/>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8"/>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28"/>
          <p:cNvSpPr txBox="1"/>
          <p:nvPr/>
        </p:nvSpPr>
        <p:spPr>
          <a:xfrm>
            <a:off x="482711" y="790378"/>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a:p>
        </p:txBody>
      </p:sp>
      <p:sp>
        <p:nvSpPr>
          <p:cNvPr id="123" name="Google Shape;123;p28"/>
          <p:cNvSpPr txBox="1"/>
          <p:nvPr/>
        </p:nvSpPr>
        <p:spPr>
          <a:xfrm>
            <a:off x="6747699" y="2886556"/>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29"/>
          <p:cNvSpPr txBox="1"/>
          <p:nvPr>
            <p:ph type="title"/>
          </p:nvPr>
        </p:nvSpPr>
        <p:spPr>
          <a:xfrm>
            <a:off x="615848" y="609600"/>
            <a:ext cx="6341465"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9"/>
          <p:cNvSpPr txBox="1"/>
          <p:nvPr>
            <p:ph idx="1" type="body"/>
          </p:nvPr>
        </p:nvSpPr>
        <p:spPr>
          <a:xfrm>
            <a:off x="609597" y="4013200"/>
            <a:ext cx="6347716"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29"/>
          <p:cNvSpPr txBox="1"/>
          <p:nvPr>
            <p:ph idx="2" type="body"/>
          </p:nvPr>
        </p:nvSpPr>
        <p:spPr>
          <a:xfrm>
            <a:off x="609598" y="4527448"/>
            <a:ext cx="6347715"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29"/>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9"/>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9"/>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30"/>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0"/>
          <p:cNvSpPr txBox="1"/>
          <p:nvPr>
            <p:ph idx="1" type="body"/>
          </p:nvPr>
        </p:nvSpPr>
        <p:spPr>
          <a:xfrm rot="5400000">
            <a:off x="1843070" y="927120"/>
            <a:ext cx="3880773" cy="6347714"/>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30"/>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0"/>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0"/>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31"/>
          <p:cNvSpPr txBox="1"/>
          <p:nvPr>
            <p:ph type="title"/>
          </p:nvPr>
        </p:nvSpPr>
        <p:spPr>
          <a:xfrm rot="5400000">
            <a:off x="3840993" y="2745920"/>
            <a:ext cx="5251451" cy="97881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1"/>
          <p:cNvSpPr txBox="1"/>
          <p:nvPr>
            <p:ph idx="1" type="body"/>
          </p:nvPr>
        </p:nvSpPr>
        <p:spPr>
          <a:xfrm rot="5400000">
            <a:off x="581386" y="637813"/>
            <a:ext cx="5251451" cy="5195026"/>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31"/>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1"/>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1"/>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8467" y="-8468"/>
            <a:ext cx="9169805" cy="6874935"/>
            <a:chOff x="-8467" y="-8468"/>
            <a:chExt cx="9169805" cy="6874935"/>
          </a:xfrm>
        </p:grpSpPr>
        <p:sp>
          <p:nvSpPr>
            <p:cNvPr id="11" name="Google Shape;11;p15"/>
            <p:cNvSpPr/>
            <p:nvPr/>
          </p:nvSpPr>
          <p:spPr>
            <a:xfrm>
              <a:off x="-8467" y="4013200"/>
              <a:ext cx="457200" cy="2853267"/>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15"/>
            <p:cNvCxnSpPr/>
            <p:nvPr/>
          </p:nvCxnSpPr>
          <p:spPr>
            <a:xfrm flipH="1" rot="10800000">
              <a:off x="5130830" y="4175605"/>
              <a:ext cx="4022475" cy="2682396"/>
            </a:xfrm>
            <a:prstGeom prst="straightConnector1">
              <a:avLst/>
            </a:prstGeom>
            <a:noFill/>
            <a:ln cap="flat" cmpd="sng" w="9525">
              <a:solidFill>
                <a:srgbClr val="D8D8D8"/>
              </a:solidFill>
              <a:prstDash val="solid"/>
              <a:round/>
              <a:headEnd len="sm" w="sm" type="none"/>
              <a:tailEnd len="sm" w="sm" type="none"/>
            </a:ln>
          </p:spPr>
        </p:cxnSp>
        <p:cxnSp>
          <p:nvCxnSpPr>
            <p:cNvPr id="13" name="Google Shape;13;p15"/>
            <p:cNvCxnSpPr/>
            <p:nvPr/>
          </p:nvCxnSpPr>
          <p:spPr>
            <a:xfrm>
              <a:off x="7042707" y="0"/>
              <a:ext cx="1219200" cy="6858000"/>
            </a:xfrm>
            <a:prstGeom prst="straightConnector1">
              <a:avLst/>
            </a:prstGeom>
            <a:noFill/>
            <a:ln cap="flat" cmpd="sng" w="9525">
              <a:solidFill>
                <a:srgbClr val="BFBFBF"/>
              </a:solidFill>
              <a:prstDash val="solid"/>
              <a:round/>
              <a:headEnd len="sm" w="sm" type="none"/>
              <a:tailEnd len="sm" w="sm" type="none"/>
            </a:ln>
          </p:spPr>
        </p:cxnSp>
        <p:sp>
          <p:nvSpPr>
            <p:cNvPr id="14" name="Google Shape;14;p15"/>
            <p:cNvSpPr/>
            <p:nvPr/>
          </p:nvSpPr>
          <p:spPr>
            <a:xfrm>
              <a:off x="6891896" y="1"/>
              <a:ext cx="2269442" cy="686646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5"/>
            <p:cNvSpPr/>
            <p:nvPr/>
          </p:nvSpPr>
          <p:spPr>
            <a:xfrm>
              <a:off x="7205158" y="-8467"/>
              <a:ext cx="1948147" cy="6866467"/>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6637896" y="3920066"/>
              <a:ext cx="2513565" cy="2937933"/>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5"/>
            <p:cNvSpPr/>
            <p:nvPr/>
          </p:nvSpPr>
          <p:spPr>
            <a:xfrm>
              <a:off x="7010429" y="-8467"/>
              <a:ext cx="2142876" cy="6866467"/>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8">
                <a:alpha val="69803"/>
              </a:srgbClr>
            </a:solidFill>
            <a:ln>
              <a:noFill/>
            </a:ln>
          </p:spPr>
        </p:sp>
        <p:sp>
          <p:nvSpPr>
            <p:cNvPr id="18" name="Google Shape;18;p15"/>
            <p:cNvSpPr/>
            <p:nvPr/>
          </p:nvSpPr>
          <p:spPr>
            <a:xfrm>
              <a:off x="8295776" y="-8467"/>
              <a:ext cx="857530" cy="6866467"/>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BFE471">
                <a:alpha val="6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5"/>
            <p:cNvSpPr/>
            <p:nvPr/>
          </p:nvSpPr>
          <p:spPr>
            <a:xfrm>
              <a:off x="8077231" y="-8468"/>
              <a:ext cx="1066770" cy="6866467"/>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8060297" y="4893733"/>
              <a:ext cx="1094086"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5"/>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 name="Shape 146"/>
        <p:cNvGrpSpPr/>
        <p:nvPr/>
      </p:nvGrpSpPr>
      <p:grpSpPr>
        <a:xfrm>
          <a:off x="0" y="0"/>
          <a:ext cx="0" cy="0"/>
          <a:chOff x="0" y="0"/>
          <a:chExt cx="0" cy="0"/>
        </a:xfrm>
      </p:grpSpPr>
      <p:sp>
        <p:nvSpPr>
          <p:cNvPr id="147" name="Google Shape;147;p1"/>
          <p:cNvSpPr txBox="1"/>
          <p:nvPr>
            <p:ph type="ctrTitle"/>
          </p:nvPr>
        </p:nvSpPr>
        <p:spPr>
          <a:xfrm>
            <a:off x="685800" y="1115441"/>
            <a:ext cx="7772400" cy="14700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accent1"/>
              </a:buClr>
              <a:buSzPts val="5400"/>
              <a:buFont typeface="Marcellus"/>
              <a:buNone/>
            </a:pPr>
            <a:r>
              <a:rPr lang="en-US">
                <a:latin typeface="Marcellus"/>
                <a:ea typeface="Marcellus"/>
                <a:cs typeface="Marcellus"/>
                <a:sym typeface="Marcellus"/>
              </a:rPr>
              <a:t>COVID-19 Exploratory Data Analysis</a:t>
            </a:r>
            <a:endParaRPr/>
          </a:p>
        </p:txBody>
      </p:sp>
      <p:sp>
        <p:nvSpPr>
          <p:cNvPr id="148" name="Google Shape;148;p1"/>
          <p:cNvSpPr txBox="1"/>
          <p:nvPr>
            <p:ph idx="1" type="subTitle"/>
          </p:nvPr>
        </p:nvSpPr>
        <p:spPr>
          <a:xfrm>
            <a:off x="1684750" y="3234235"/>
            <a:ext cx="6400800" cy="1752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440"/>
              <a:buNone/>
            </a:pPr>
            <a:r>
              <a:rPr lang="en-US">
                <a:latin typeface="Marcellus"/>
                <a:ea typeface="Marcellus"/>
                <a:cs typeface="Marcellus"/>
                <a:sym typeface="Marcellus"/>
              </a:rPr>
              <a:t>Global and Regional Trends (2020–2024)</a:t>
            </a:r>
            <a:endParaRPr/>
          </a:p>
          <a:p>
            <a:pPr indent="0" lvl="0" marL="0" rtl="0" algn="r">
              <a:spcBef>
                <a:spcPts val="1000"/>
              </a:spcBef>
              <a:spcAft>
                <a:spcPts val="0"/>
              </a:spcAft>
              <a:buSzPts val="1440"/>
              <a:buNone/>
            </a:pPr>
            <a:r>
              <a:rPr lang="en-US">
                <a:latin typeface="Marcellus"/>
                <a:ea typeface="Marcellus"/>
                <a:cs typeface="Marcellus"/>
                <a:sym typeface="Marcellus"/>
              </a:rPr>
              <a:t>Presented by: Mayur</a:t>
            </a:r>
            <a:endParaRPr/>
          </a:p>
          <a:p>
            <a:pPr indent="0" lvl="0" marL="0" rtl="0" algn="r">
              <a:spcBef>
                <a:spcPts val="1000"/>
              </a:spcBef>
              <a:spcAft>
                <a:spcPts val="0"/>
              </a:spcAft>
              <a:buSzPts val="1440"/>
              <a:buNone/>
            </a:pPr>
            <a:r>
              <a:rPr lang="en-US">
                <a:latin typeface="Marcellus"/>
                <a:ea typeface="Marcellus"/>
                <a:cs typeface="Marcellus"/>
                <a:sym typeface="Marcellus"/>
              </a:rPr>
              <a:t>Date: 17-09-2025</a:t>
            </a:r>
            <a:endParaRPr>
              <a:latin typeface="Marcellus"/>
              <a:ea typeface="Marcellus"/>
              <a:cs typeface="Marcellus"/>
              <a:sym typeface="Marcellu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2"/>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Introduction</a:t>
            </a:r>
            <a:endParaRPr/>
          </a:p>
        </p:txBody>
      </p:sp>
      <p:sp>
        <p:nvSpPr>
          <p:cNvPr id="154" name="Google Shape;154;p2"/>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SzPct val="80000"/>
              <a:buChar char="►"/>
            </a:pPr>
            <a:r>
              <a:rPr lang="en-US" sz="2400">
                <a:latin typeface="Albert Sans"/>
                <a:ea typeface="Albert Sans"/>
                <a:cs typeface="Albert Sans"/>
                <a:sym typeface="Albert Sans"/>
              </a:rPr>
              <a:t>objective :- </a:t>
            </a:r>
            <a:endParaRPr/>
          </a:p>
          <a:p>
            <a:pPr indent="0" lvl="0" marL="0" rtl="0" algn="l">
              <a:spcBef>
                <a:spcPts val="1000"/>
              </a:spcBef>
              <a:spcAft>
                <a:spcPts val="0"/>
              </a:spcAft>
              <a:buSzPct val="80000"/>
              <a:buNone/>
            </a:pPr>
            <a:r>
              <a:rPr lang="en-US" sz="2400">
                <a:latin typeface="Albert Sans"/>
                <a:ea typeface="Albert Sans"/>
                <a:cs typeface="Albert Sans"/>
                <a:sym typeface="Albert Sans"/>
              </a:rPr>
              <a:t>	The objective of a COVID-19 analysis is to study the trends of 	cases, deaths, and recoveries to understand the pandemic’s 	impact globally and regionally.</a:t>
            </a:r>
            <a:endParaRPr/>
          </a:p>
          <a:p>
            <a:pPr indent="0" lvl="0" marL="0" rtl="0" algn="l">
              <a:spcBef>
                <a:spcPts val="1000"/>
              </a:spcBef>
              <a:spcAft>
                <a:spcPts val="0"/>
              </a:spcAft>
              <a:buSzPct val="80000"/>
              <a:buNone/>
            </a:pPr>
            <a:r>
              <a:t/>
            </a:r>
            <a:endParaRPr sz="2400">
              <a:latin typeface="Albert Sans"/>
              <a:ea typeface="Albert Sans"/>
              <a:cs typeface="Albert Sans"/>
              <a:sym typeface="Albert Sans"/>
            </a:endParaRPr>
          </a:p>
          <a:p>
            <a:pPr indent="-342900" lvl="0" marL="342900" rtl="0" algn="l">
              <a:spcBef>
                <a:spcPts val="1000"/>
              </a:spcBef>
              <a:spcAft>
                <a:spcPts val="0"/>
              </a:spcAft>
              <a:buSzPct val="80000"/>
              <a:buChar char="►"/>
            </a:pPr>
            <a:r>
              <a:rPr lang="en-US" sz="2400">
                <a:latin typeface="Albert Sans"/>
                <a:ea typeface="Albert Sans"/>
                <a:cs typeface="Albert Sans"/>
                <a:sym typeface="Albert Sans"/>
              </a:rPr>
              <a:t>Data sources :-  Our World in Data COVID-19 dataset</a:t>
            </a:r>
            <a:endParaRPr/>
          </a:p>
          <a:p>
            <a:pPr indent="0" lvl="0" marL="0" rtl="0" algn="l">
              <a:spcBef>
                <a:spcPts val="1000"/>
              </a:spcBef>
              <a:spcAft>
                <a:spcPts val="0"/>
              </a:spcAft>
              <a:buSzPct val="80000"/>
              <a:buNone/>
            </a:pPr>
            <a:r>
              <a:t/>
            </a:r>
            <a:endParaRPr sz="2400">
              <a:latin typeface="Albert Sans"/>
              <a:ea typeface="Albert Sans"/>
              <a:cs typeface="Albert Sans"/>
              <a:sym typeface="Albert Sans"/>
            </a:endParaRPr>
          </a:p>
          <a:p>
            <a:pPr indent="-342900" lvl="0" marL="342900" rtl="0" algn="l">
              <a:spcBef>
                <a:spcPts val="1000"/>
              </a:spcBef>
              <a:spcAft>
                <a:spcPts val="0"/>
              </a:spcAft>
              <a:buSzPct val="80000"/>
              <a:buChar char="►"/>
            </a:pPr>
            <a:r>
              <a:rPr lang="en-US" sz="2400">
                <a:latin typeface="Albert Sans"/>
                <a:ea typeface="Albert Sans"/>
                <a:cs typeface="Albert Sans"/>
                <a:sym typeface="Albert Sans"/>
              </a:rPr>
              <a:t>time span :- 2020-01-05 To 2024-08-04</a:t>
            </a:r>
            <a:endParaRPr/>
          </a:p>
          <a:p>
            <a:pPr indent="-248412" lvl="0" marL="342900" rtl="0" algn="l">
              <a:spcBef>
                <a:spcPts val="1000"/>
              </a:spcBef>
              <a:spcAft>
                <a:spcPts val="0"/>
              </a:spcAft>
              <a:buSzPct val="80000"/>
              <a:buNone/>
            </a:pPr>
            <a:r>
              <a:t/>
            </a:r>
            <a:endParaRPr sz="2400">
              <a:latin typeface="Albert Sans"/>
              <a:ea typeface="Albert Sans"/>
              <a:cs typeface="Albert Sans"/>
              <a:sym typeface="Albert Sans"/>
            </a:endParaRPr>
          </a:p>
          <a:p>
            <a:pPr indent="-342900" lvl="0" marL="342900" rtl="0" algn="l">
              <a:spcBef>
                <a:spcPts val="1000"/>
              </a:spcBef>
              <a:spcAft>
                <a:spcPts val="0"/>
              </a:spcAft>
              <a:buSzPct val="80000"/>
              <a:buChar char="►"/>
            </a:pPr>
            <a:r>
              <a:rPr lang="en-US" sz="2400">
                <a:latin typeface="Albert Sans"/>
                <a:ea typeface="Albert Sans"/>
                <a:cs typeface="Albert Sans"/>
                <a:sym typeface="Albert Sans"/>
              </a:rPr>
              <a:t>Features used: location,</a:t>
            </a:r>
            <a:r>
              <a:rPr lang="en-US" sz="2600">
                <a:latin typeface="Albert Sans"/>
                <a:ea typeface="Albert Sans"/>
                <a:cs typeface="Albert Sans"/>
                <a:sym typeface="Albert Sans"/>
              </a:rPr>
              <a:t>continent</a:t>
            </a:r>
            <a:r>
              <a:rPr lang="en-US" sz="2400">
                <a:latin typeface="Albert Sans"/>
                <a:ea typeface="Albert Sans"/>
                <a:cs typeface="Albert Sans"/>
                <a:sym typeface="Albert Sans"/>
              </a:rPr>
              <a:t>, date, total_cases, new_cases, total_deaths, new_deaths, population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3"/>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Global Overview</a:t>
            </a:r>
            <a:endParaRPr/>
          </a:p>
        </p:txBody>
      </p:sp>
      <p:sp>
        <p:nvSpPr>
          <p:cNvPr id="161" name="Google Shape;161;p3"/>
          <p:cNvSpPr txBox="1"/>
          <p:nvPr>
            <p:ph idx="1" type="body"/>
          </p:nvPr>
        </p:nvSpPr>
        <p:spPr>
          <a:xfrm>
            <a:off x="411475" y="4822619"/>
            <a:ext cx="8321100" cy="14565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440"/>
              <a:buNone/>
            </a:pPr>
            <a:r>
              <a:rPr lang="en-US"/>
              <a:t>Insight : COVID-19 spread rapidly with multiple global waves, peaking in early 2023.Deaths did not increase proportionally with cases in later stages, showing the pandemic became less deadly over time (due to immunity, vaccines, and treatments).By 2024, both new cases and deaths were very low, indicating the pandemic had largely subsided globally.</a:t>
            </a:r>
            <a:endParaRPr/>
          </a:p>
        </p:txBody>
      </p:sp>
      <p:pic>
        <p:nvPicPr>
          <p:cNvPr id="162" name="Google Shape;162;p3"/>
          <p:cNvPicPr preferRelativeResize="0"/>
          <p:nvPr/>
        </p:nvPicPr>
        <p:blipFill rotWithShape="1">
          <a:blip r:embed="rId4">
            <a:alphaModFix/>
          </a:blip>
          <a:srcRect b="0" l="0" r="0" t="0"/>
          <a:stretch/>
        </p:blipFill>
        <p:spPr>
          <a:xfrm>
            <a:off x="164592" y="1533143"/>
            <a:ext cx="4399394" cy="3022247"/>
          </a:xfrm>
          <a:prstGeom prst="rect">
            <a:avLst/>
          </a:prstGeom>
          <a:noFill/>
          <a:ln>
            <a:noFill/>
          </a:ln>
        </p:spPr>
      </p:pic>
      <p:pic>
        <p:nvPicPr>
          <p:cNvPr id="163" name="Google Shape;163;p3"/>
          <p:cNvPicPr preferRelativeResize="0"/>
          <p:nvPr/>
        </p:nvPicPr>
        <p:blipFill rotWithShape="1">
          <a:blip r:embed="rId5">
            <a:alphaModFix/>
          </a:blip>
          <a:srcRect b="0" l="0" r="0" t="0"/>
          <a:stretch/>
        </p:blipFill>
        <p:spPr>
          <a:xfrm>
            <a:off x="4572000" y="1533144"/>
            <a:ext cx="4399394" cy="29565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4"/>
          <p:cNvSpPr txBox="1"/>
          <p:nvPr>
            <p:ph type="title"/>
          </p:nvPr>
        </p:nvSpPr>
        <p:spPr>
          <a:xfrm>
            <a:off x="457200" y="146304"/>
            <a:ext cx="82296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Cases vs Population(World)</a:t>
            </a:r>
            <a:endParaRPr>
              <a:latin typeface="Marcellus"/>
              <a:ea typeface="Marcellus"/>
              <a:cs typeface="Marcellus"/>
              <a:sym typeface="Marcellus"/>
            </a:endParaRPr>
          </a:p>
        </p:txBody>
      </p:sp>
      <p:sp>
        <p:nvSpPr>
          <p:cNvPr id="169" name="Google Shape;169;p4"/>
          <p:cNvSpPr txBox="1"/>
          <p:nvPr>
            <p:ph idx="1" type="body"/>
          </p:nvPr>
        </p:nvSpPr>
        <p:spPr>
          <a:xfrm>
            <a:off x="402336" y="3929045"/>
            <a:ext cx="8229600" cy="222486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80"/>
              <a:buNone/>
            </a:pPr>
            <a:r>
              <a:rPr lang="en-US" sz="1600"/>
              <a:t>Insight : </a:t>
            </a:r>
            <a:endParaRPr/>
          </a:p>
          <a:p>
            <a:pPr indent="0" lvl="0" marL="0" rtl="0" algn="l">
              <a:spcBef>
                <a:spcPts val="1000"/>
              </a:spcBef>
              <a:spcAft>
                <a:spcPts val="0"/>
              </a:spcAft>
              <a:buSzPts val="1280"/>
              <a:buNone/>
            </a:pPr>
            <a:r>
              <a:rPr lang="en-US" sz="1600"/>
              <a:t>Scale of pandemic: Almost 776 million confirmed cases, but still under 10% of the world’s population officially recorded.</a:t>
            </a:r>
            <a:endParaRPr/>
          </a:p>
          <a:p>
            <a:pPr indent="0" lvl="0" marL="0" rtl="0" algn="l">
              <a:spcBef>
                <a:spcPts val="1000"/>
              </a:spcBef>
              <a:spcAft>
                <a:spcPts val="0"/>
              </a:spcAft>
              <a:buSzPts val="1280"/>
              <a:buNone/>
            </a:pPr>
            <a:r>
              <a:rPr lang="en-US" sz="1600"/>
              <a:t>Survival rate: Extremely high — 99%+ of reported cases survived, thanks to immunity, vaccines, and improved treatments.</a:t>
            </a:r>
            <a:endParaRPr/>
          </a:p>
          <a:p>
            <a:pPr indent="0" lvl="0" marL="0" rtl="0" algn="l">
              <a:spcBef>
                <a:spcPts val="1000"/>
              </a:spcBef>
              <a:spcAft>
                <a:spcPts val="0"/>
              </a:spcAft>
              <a:buSzPts val="1280"/>
              <a:buNone/>
            </a:pPr>
            <a:r>
              <a:rPr lang="en-US" sz="1600"/>
              <a:t>Mortality: Less than 1% fatality rate globally, though higher in vulnerable populations.</a:t>
            </a:r>
            <a:endParaRPr/>
          </a:p>
          <a:p>
            <a:pPr indent="0" lvl="0" marL="0" rtl="0" algn="l">
              <a:spcBef>
                <a:spcPts val="1000"/>
              </a:spcBef>
              <a:spcAft>
                <a:spcPts val="0"/>
              </a:spcAft>
              <a:buSzPts val="1280"/>
              <a:buNone/>
            </a:pPr>
            <a:r>
              <a:rPr lang="en-US" sz="1600"/>
              <a:t>Perspective: While the pandemic was devastating in terms of deaths and social/economic disruption, the sheer number of recoveries highlights human resilience and medical progress.</a:t>
            </a:r>
            <a:endParaRPr sz="1600"/>
          </a:p>
        </p:txBody>
      </p:sp>
      <p:pic>
        <p:nvPicPr>
          <p:cNvPr id="170" name="Google Shape;170;p4"/>
          <p:cNvPicPr preferRelativeResize="0"/>
          <p:nvPr/>
        </p:nvPicPr>
        <p:blipFill rotWithShape="1">
          <a:blip r:embed="rId4">
            <a:alphaModFix/>
          </a:blip>
          <a:srcRect b="0" l="0" r="0" t="0"/>
          <a:stretch/>
        </p:blipFill>
        <p:spPr>
          <a:xfrm>
            <a:off x="5157216" y="852811"/>
            <a:ext cx="3752107" cy="2994850"/>
          </a:xfrm>
          <a:prstGeom prst="rect">
            <a:avLst/>
          </a:prstGeom>
          <a:noFill/>
          <a:ln>
            <a:noFill/>
          </a:ln>
        </p:spPr>
      </p:pic>
      <p:pic>
        <p:nvPicPr>
          <p:cNvPr id="171" name="Google Shape;171;p4"/>
          <p:cNvPicPr preferRelativeResize="0"/>
          <p:nvPr/>
        </p:nvPicPr>
        <p:blipFill rotWithShape="1">
          <a:blip r:embed="rId5">
            <a:alphaModFix/>
          </a:blip>
          <a:srcRect b="0" l="0" r="0" t="0"/>
          <a:stretch/>
        </p:blipFill>
        <p:spPr>
          <a:xfrm>
            <a:off x="173737" y="1343574"/>
            <a:ext cx="4809743" cy="23038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pic>
        <p:nvPicPr>
          <p:cNvPr id="176" name="Google Shape;176;p5"/>
          <p:cNvPicPr preferRelativeResize="0"/>
          <p:nvPr/>
        </p:nvPicPr>
        <p:blipFill rotWithShape="1">
          <a:blip r:embed="rId4">
            <a:alphaModFix/>
          </a:blip>
          <a:srcRect b="0" l="0" r="0" t="0"/>
          <a:stretch/>
        </p:blipFill>
        <p:spPr>
          <a:xfrm>
            <a:off x="0" y="990600"/>
            <a:ext cx="9144000" cy="2968752"/>
          </a:xfrm>
          <a:prstGeom prst="rect">
            <a:avLst/>
          </a:prstGeom>
          <a:noFill/>
          <a:ln>
            <a:noFill/>
          </a:ln>
        </p:spPr>
      </p:pic>
      <p:sp>
        <p:nvSpPr>
          <p:cNvPr id="177" name="Google Shape;177;p5"/>
          <p:cNvSpPr txBox="1"/>
          <p:nvPr>
            <p:ph type="title"/>
          </p:nvPr>
        </p:nvSpPr>
        <p:spPr>
          <a:xfrm>
            <a:off x="457200" y="155766"/>
            <a:ext cx="82296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Continental</a:t>
            </a:r>
            <a:r>
              <a:rPr lang="en-US"/>
              <a:t> Distribution</a:t>
            </a:r>
            <a:endParaRPr/>
          </a:p>
        </p:txBody>
      </p:sp>
      <p:sp>
        <p:nvSpPr>
          <p:cNvPr id="178" name="Google Shape;178;p5"/>
          <p:cNvSpPr txBox="1"/>
          <p:nvPr>
            <p:ph idx="1" type="body"/>
          </p:nvPr>
        </p:nvSpPr>
        <p:spPr>
          <a:xfrm>
            <a:off x="365760" y="4067238"/>
            <a:ext cx="8229600" cy="3055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20"/>
              <a:buNone/>
            </a:pPr>
            <a:r>
              <a:rPr lang="en-US" sz="1400"/>
              <a:t>Insight : </a:t>
            </a:r>
            <a:endParaRPr/>
          </a:p>
          <a:p>
            <a:pPr indent="0" lvl="0" marL="0" rtl="0" algn="l">
              <a:spcBef>
                <a:spcPts val="1000"/>
              </a:spcBef>
              <a:spcAft>
                <a:spcPts val="0"/>
              </a:spcAft>
              <a:buSzPts val="1120"/>
              <a:buNone/>
            </a:pPr>
            <a:r>
              <a:rPr lang="en-US" sz="1400"/>
              <a:t>Asia &amp; Europe → Highest number of cases and survivors.</a:t>
            </a:r>
            <a:endParaRPr/>
          </a:p>
          <a:p>
            <a:pPr indent="0" lvl="0" marL="0" rtl="0" algn="l">
              <a:spcBef>
                <a:spcPts val="1000"/>
              </a:spcBef>
              <a:spcAft>
                <a:spcPts val="0"/>
              </a:spcAft>
              <a:buSzPts val="1120"/>
              <a:buNone/>
            </a:pPr>
            <a:r>
              <a:rPr lang="en-US" sz="1400"/>
              <a:t>South  America → Disproportionately high death share compared to cases, meaning higher case fatality rates.</a:t>
            </a:r>
            <a:endParaRPr/>
          </a:p>
          <a:p>
            <a:pPr indent="0" lvl="0" marL="0" rtl="0" algn="l">
              <a:spcBef>
                <a:spcPts val="1000"/>
              </a:spcBef>
              <a:spcAft>
                <a:spcPts val="0"/>
              </a:spcAft>
              <a:buSzPts val="1120"/>
              <a:buNone/>
            </a:pPr>
            <a:r>
              <a:rPr lang="en-US" sz="1400"/>
              <a:t>North  America → High in both cases and deaths, but lower than Asia/Europe in proportion .</a:t>
            </a:r>
            <a:endParaRPr/>
          </a:p>
          <a:p>
            <a:pPr indent="0" lvl="0" marL="0" rtl="0" algn="l">
              <a:spcBef>
                <a:spcPts val="1000"/>
              </a:spcBef>
              <a:spcAft>
                <a:spcPts val="0"/>
              </a:spcAft>
              <a:buSzPts val="1120"/>
              <a:buNone/>
            </a:pPr>
            <a:r>
              <a:rPr lang="en-US" sz="1400"/>
              <a:t>Africa &amp; Oceania → Very low share of cases and deaths globally (likely due to lower testing/reporting or genuinely lower spread).</a:t>
            </a:r>
            <a:endParaRPr/>
          </a:p>
          <a:p>
            <a:pPr indent="0" lvl="0" marL="0" rtl="0" algn="l">
              <a:spcBef>
                <a:spcPts val="1000"/>
              </a:spcBef>
              <a:spcAft>
                <a:spcPts val="0"/>
              </a:spcAft>
              <a:buSzPts val="1120"/>
              <a:buNone/>
            </a:pPr>
            <a:r>
              <a:rPr lang="en-US" sz="1400"/>
              <a:t>Global lesson: Regional health infrastructure, vaccination speed, and population demographics had a major impact on survival and death rates.</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sp>
        <p:nvSpPr>
          <p:cNvPr id="183" name="Google Shape;183;p6"/>
          <p:cNvSpPr txBox="1"/>
          <p:nvPr>
            <p:ph type="title"/>
          </p:nvPr>
        </p:nvSpPr>
        <p:spPr>
          <a:xfrm>
            <a:off x="457200" y="119190"/>
            <a:ext cx="82296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800"/>
              <a:buFont typeface="Marcellus"/>
              <a:buNone/>
            </a:pPr>
            <a:r>
              <a:rPr lang="en-US" sz="2800">
                <a:latin typeface="Marcellus"/>
                <a:ea typeface="Marcellus"/>
                <a:cs typeface="Marcellus"/>
                <a:sym typeface="Marcellus"/>
              </a:rPr>
              <a:t>Cases, Deaths, Survivors by Continent and cases by population</a:t>
            </a:r>
            <a:endParaRPr sz="2800">
              <a:latin typeface="Marcellus"/>
              <a:ea typeface="Marcellus"/>
              <a:cs typeface="Marcellus"/>
              <a:sym typeface="Marcellus"/>
            </a:endParaRPr>
          </a:p>
        </p:txBody>
      </p:sp>
      <p:sp>
        <p:nvSpPr>
          <p:cNvPr id="184" name="Google Shape;184;p6"/>
          <p:cNvSpPr txBox="1"/>
          <p:nvPr>
            <p:ph idx="1" type="body"/>
          </p:nvPr>
        </p:nvSpPr>
        <p:spPr>
          <a:xfrm>
            <a:off x="393192" y="3884898"/>
            <a:ext cx="8293608" cy="269313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79999"/>
              <a:buNone/>
            </a:pPr>
            <a:r>
              <a:rPr lang="en-US"/>
              <a:t>Insight : </a:t>
            </a:r>
            <a:endParaRPr/>
          </a:p>
          <a:p>
            <a:pPr indent="0" lvl="0" marL="0" rtl="0" algn="l">
              <a:spcBef>
                <a:spcPts val="1000"/>
              </a:spcBef>
              <a:spcAft>
                <a:spcPts val="0"/>
              </a:spcAft>
              <a:buSzPct val="79999"/>
              <a:buNone/>
            </a:pPr>
            <a:r>
              <a:rPr lang="en-US"/>
              <a:t>Europe and Oceania were hit hardest proportionally, with the highest infection rates per population .</a:t>
            </a:r>
            <a:endParaRPr/>
          </a:p>
          <a:p>
            <a:pPr indent="0" lvl="0" marL="0" rtl="0" algn="l">
              <a:spcBef>
                <a:spcPts val="1000"/>
              </a:spcBef>
              <a:spcAft>
                <a:spcPts val="0"/>
              </a:spcAft>
              <a:buSzPct val="79999"/>
              <a:buNone/>
            </a:pPr>
            <a:r>
              <a:rPr lang="en-US"/>
              <a:t>Asia had the highest absolute number of cases, but because of its very large population, its percentage of infected people was relatively low.</a:t>
            </a:r>
            <a:endParaRPr/>
          </a:p>
          <a:p>
            <a:pPr indent="0" lvl="0" marL="0" rtl="0" algn="l">
              <a:spcBef>
                <a:spcPts val="1000"/>
              </a:spcBef>
              <a:spcAft>
                <a:spcPts val="0"/>
              </a:spcAft>
              <a:buSzPct val="79999"/>
              <a:buNone/>
            </a:pPr>
            <a:r>
              <a:rPr lang="en-US"/>
              <a:t>Africa had both the lowest absolute and relative number of cases, suggesting lower transmission, underreporting, or different demographic factors.</a:t>
            </a:r>
            <a:endParaRPr/>
          </a:p>
          <a:p>
            <a:pPr indent="0" lvl="0" marL="0" rtl="0" algn="l">
              <a:spcBef>
                <a:spcPts val="1000"/>
              </a:spcBef>
              <a:spcAft>
                <a:spcPts val="0"/>
              </a:spcAft>
              <a:buSzPct val="79999"/>
              <a:buNone/>
            </a:pPr>
            <a:r>
              <a:rPr lang="en-US"/>
              <a:t>Survival was overwhelmingly high across all continents, meaning the death rate was consistently a small fraction of total cases.</a:t>
            </a:r>
            <a:endParaRPr/>
          </a:p>
        </p:txBody>
      </p:sp>
      <p:pic>
        <p:nvPicPr>
          <p:cNvPr id="185" name="Google Shape;185;p6"/>
          <p:cNvPicPr preferRelativeResize="0"/>
          <p:nvPr/>
        </p:nvPicPr>
        <p:blipFill rotWithShape="1">
          <a:blip r:embed="rId4">
            <a:alphaModFix/>
          </a:blip>
          <a:srcRect b="0" l="0" r="0" t="0"/>
          <a:stretch/>
        </p:blipFill>
        <p:spPr>
          <a:xfrm>
            <a:off x="210775" y="1172988"/>
            <a:ext cx="4431764" cy="2585196"/>
          </a:xfrm>
          <a:prstGeom prst="rect">
            <a:avLst/>
          </a:prstGeom>
          <a:noFill/>
          <a:ln>
            <a:noFill/>
          </a:ln>
        </p:spPr>
      </p:pic>
      <p:pic>
        <p:nvPicPr>
          <p:cNvPr id="186" name="Google Shape;186;p6"/>
          <p:cNvPicPr preferRelativeResize="0"/>
          <p:nvPr/>
        </p:nvPicPr>
        <p:blipFill rotWithShape="1">
          <a:blip r:embed="rId5">
            <a:alphaModFix/>
          </a:blip>
          <a:srcRect b="0" l="0" r="0" t="0"/>
          <a:stretch/>
        </p:blipFill>
        <p:spPr>
          <a:xfrm>
            <a:off x="4718304" y="1161732"/>
            <a:ext cx="4251220" cy="25507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 name="Shape 190"/>
        <p:cNvGrpSpPr/>
        <p:nvPr/>
      </p:nvGrpSpPr>
      <p:grpSpPr>
        <a:xfrm>
          <a:off x="0" y="0"/>
          <a:ext cx="0" cy="0"/>
          <a:chOff x="0" y="0"/>
          <a:chExt cx="0" cy="0"/>
        </a:xfrm>
      </p:grpSpPr>
      <p:sp>
        <p:nvSpPr>
          <p:cNvPr id="191" name="Google Shape;191;p7"/>
          <p:cNvSpPr txBox="1"/>
          <p:nvPr>
            <p:ph type="title"/>
          </p:nvPr>
        </p:nvSpPr>
        <p:spPr>
          <a:xfrm>
            <a:off x="457200" y="192342"/>
            <a:ext cx="82296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200"/>
              <a:buFont typeface="Marcellus"/>
              <a:buNone/>
            </a:pPr>
            <a:r>
              <a:rPr lang="en-US" sz="3200">
                <a:latin typeface="Marcellus"/>
                <a:ea typeface="Marcellus"/>
                <a:cs typeface="Marcellus"/>
                <a:sym typeface="Marcellus"/>
              </a:rPr>
              <a:t>Top 10 Countries – Total Cases and Total Deaths</a:t>
            </a:r>
            <a:endParaRPr sz="3200">
              <a:latin typeface="Marcellus"/>
              <a:ea typeface="Marcellus"/>
              <a:cs typeface="Marcellus"/>
              <a:sym typeface="Marcellus"/>
            </a:endParaRPr>
          </a:p>
        </p:txBody>
      </p:sp>
      <p:sp>
        <p:nvSpPr>
          <p:cNvPr id="192" name="Google Shape;192;p7"/>
          <p:cNvSpPr txBox="1"/>
          <p:nvPr>
            <p:ph idx="1" type="body"/>
          </p:nvPr>
        </p:nvSpPr>
        <p:spPr>
          <a:xfrm>
            <a:off x="393192" y="3602736"/>
            <a:ext cx="8293608" cy="24963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80"/>
              <a:buNone/>
            </a:pPr>
            <a:r>
              <a:rPr lang="en-US" sz="1600"/>
              <a:t>Insight : </a:t>
            </a:r>
            <a:endParaRPr/>
          </a:p>
          <a:p>
            <a:pPr indent="0" lvl="0" marL="0" rtl="0" algn="l">
              <a:spcBef>
                <a:spcPts val="1000"/>
              </a:spcBef>
              <a:spcAft>
                <a:spcPts val="0"/>
              </a:spcAft>
              <a:buSzPts val="1280"/>
              <a:buNone/>
            </a:pPr>
            <a:r>
              <a:rPr lang="en-US" sz="1600"/>
              <a:t>United States had the highest global burden in both cases and deaths, showing the largest pandemic impact.</a:t>
            </a:r>
            <a:endParaRPr/>
          </a:p>
          <a:p>
            <a:pPr indent="0" lvl="0" marL="0" rtl="0" algn="l">
              <a:spcBef>
                <a:spcPts val="1000"/>
              </a:spcBef>
              <a:spcAft>
                <a:spcPts val="0"/>
              </a:spcAft>
              <a:buSzPts val="1280"/>
              <a:buNone/>
            </a:pPr>
            <a:r>
              <a:rPr lang="en-US" sz="1600"/>
              <a:t>China’s data shows anomalies: cases surged dramatically in 2023 but deaths did not match, possibly due to reporting practices.</a:t>
            </a:r>
            <a:endParaRPr/>
          </a:p>
          <a:p>
            <a:pPr indent="0" lvl="0" marL="0" rtl="0" algn="l">
              <a:spcBef>
                <a:spcPts val="1000"/>
              </a:spcBef>
              <a:spcAft>
                <a:spcPts val="0"/>
              </a:spcAft>
              <a:buSzPts val="1120"/>
              <a:buNone/>
            </a:pPr>
            <a:r>
              <a:rPr lang="en-US" sz="1400"/>
              <a:t>India</a:t>
            </a:r>
            <a:r>
              <a:rPr lang="en-US" sz="1600"/>
              <a:t> and Brazil suffered massive death tolls during early pandemic waves (Delta variant).Europe (UK, France, Germany, Italy) saw heavy waves early, but later stabilized.</a:t>
            </a:r>
            <a:endParaRPr/>
          </a:p>
          <a:p>
            <a:pPr indent="0" lvl="0" marL="0" rtl="0" algn="l">
              <a:spcBef>
                <a:spcPts val="1000"/>
              </a:spcBef>
              <a:spcAft>
                <a:spcPts val="0"/>
              </a:spcAft>
              <a:buSzPts val="1280"/>
              <a:buNone/>
            </a:pPr>
            <a:r>
              <a:rPr lang="en-US" sz="1600"/>
              <a:t>Japan and South Korea highlight a contrasting story: very high late-stage case counts but comparatively low deaths → suggesting better healthcare outcomes or demographic advantages.</a:t>
            </a:r>
            <a:endParaRPr sz="1600"/>
          </a:p>
        </p:txBody>
      </p:sp>
      <p:pic>
        <p:nvPicPr>
          <p:cNvPr id="193" name="Google Shape;193;p7"/>
          <p:cNvPicPr preferRelativeResize="0"/>
          <p:nvPr/>
        </p:nvPicPr>
        <p:blipFill rotWithShape="1">
          <a:blip r:embed="rId4">
            <a:alphaModFix/>
          </a:blip>
          <a:srcRect b="0" l="0" r="0" t="0"/>
          <a:stretch/>
        </p:blipFill>
        <p:spPr>
          <a:xfrm>
            <a:off x="0" y="1198500"/>
            <a:ext cx="4589652" cy="2294826"/>
          </a:xfrm>
          <a:prstGeom prst="rect">
            <a:avLst/>
          </a:prstGeom>
          <a:noFill/>
          <a:ln>
            <a:noFill/>
          </a:ln>
        </p:spPr>
      </p:pic>
      <p:pic>
        <p:nvPicPr>
          <p:cNvPr id="194" name="Google Shape;194;p7"/>
          <p:cNvPicPr preferRelativeResize="0"/>
          <p:nvPr/>
        </p:nvPicPr>
        <p:blipFill rotWithShape="1">
          <a:blip r:embed="rId5">
            <a:alphaModFix/>
          </a:blip>
          <a:srcRect b="0" l="0" r="0" t="0"/>
          <a:stretch/>
        </p:blipFill>
        <p:spPr>
          <a:xfrm>
            <a:off x="4536060" y="1198500"/>
            <a:ext cx="4589652" cy="22948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sp>
        <p:nvSpPr>
          <p:cNvPr id="199" name="Google Shape;199;p8"/>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Country-Level Breakdown</a:t>
            </a:r>
            <a:endParaRPr/>
          </a:p>
        </p:txBody>
      </p:sp>
      <p:sp>
        <p:nvSpPr>
          <p:cNvPr id="200" name="Google Shape;200;p8"/>
          <p:cNvSpPr txBox="1"/>
          <p:nvPr>
            <p:ph idx="1" type="body"/>
          </p:nvPr>
        </p:nvSpPr>
        <p:spPr>
          <a:xfrm>
            <a:off x="402336" y="4279232"/>
            <a:ext cx="8339328" cy="20849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40"/>
              <a:buNone/>
            </a:pPr>
            <a:r>
              <a:rPr lang="en-US" sz="1800"/>
              <a:t>Insight : </a:t>
            </a:r>
            <a:endParaRPr sz="1800"/>
          </a:p>
          <a:p>
            <a:pPr indent="0" lvl="0" marL="0" rtl="0" algn="l">
              <a:spcBef>
                <a:spcPts val="1000"/>
              </a:spcBef>
              <a:spcAft>
                <a:spcPts val="0"/>
              </a:spcAft>
              <a:buSzPts val="1440"/>
              <a:buNone/>
            </a:pPr>
            <a:r>
              <a:rPr lang="en-US" sz="1800"/>
              <a:t>Case Burden: The pandemic was most concentrated in the United States, China, and India.</a:t>
            </a:r>
            <a:endParaRPr/>
          </a:p>
          <a:p>
            <a:pPr indent="0" lvl="0" marL="0" rtl="0" algn="l">
              <a:spcBef>
                <a:spcPts val="1000"/>
              </a:spcBef>
              <a:spcAft>
                <a:spcPts val="0"/>
              </a:spcAft>
              <a:buSzPts val="1440"/>
              <a:buNone/>
            </a:pPr>
            <a:r>
              <a:rPr lang="en-US" sz="1800"/>
              <a:t>Deaths: The United States, Brazil, and India suffered the heaviest death tolls.</a:t>
            </a:r>
            <a:endParaRPr/>
          </a:p>
          <a:p>
            <a:pPr indent="0" lvl="0" marL="0" rtl="0" algn="l">
              <a:spcBef>
                <a:spcPts val="1000"/>
              </a:spcBef>
              <a:spcAft>
                <a:spcPts val="0"/>
              </a:spcAft>
              <a:buSzPts val="1440"/>
              <a:buNone/>
            </a:pPr>
            <a:r>
              <a:rPr lang="en-US" sz="1800"/>
              <a:t>Survival Rates: Despite massive case loads, survival was overwhelmingly high in all countries, but East Asian countries (Japan, South Korea, China) stand out for having low death-to-case ratios.</a:t>
            </a:r>
            <a:endParaRPr sz="1800"/>
          </a:p>
        </p:txBody>
      </p:sp>
      <p:pic>
        <p:nvPicPr>
          <p:cNvPr id="201" name="Google Shape;201;p8"/>
          <p:cNvPicPr preferRelativeResize="0"/>
          <p:nvPr/>
        </p:nvPicPr>
        <p:blipFill rotWithShape="1">
          <a:blip r:embed="rId4">
            <a:alphaModFix/>
          </a:blip>
          <a:srcRect b="0" l="0" r="0" t="0"/>
          <a:stretch/>
        </p:blipFill>
        <p:spPr>
          <a:xfrm>
            <a:off x="283464" y="1417638"/>
            <a:ext cx="8549640" cy="27203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5" name="Shape 205"/>
        <p:cNvGrpSpPr/>
        <p:nvPr/>
      </p:nvGrpSpPr>
      <p:grpSpPr>
        <a:xfrm>
          <a:off x="0" y="0"/>
          <a:ext cx="0" cy="0"/>
          <a:chOff x="0" y="0"/>
          <a:chExt cx="0" cy="0"/>
        </a:xfrm>
      </p:grpSpPr>
      <p:sp>
        <p:nvSpPr>
          <p:cNvPr id="206" name="Google Shape;206;p9"/>
          <p:cNvSpPr txBox="1"/>
          <p:nvPr>
            <p:ph type="title"/>
          </p:nvPr>
        </p:nvSpPr>
        <p:spPr>
          <a:xfrm>
            <a:off x="457200" y="210630"/>
            <a:ext cx="82296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India Trend Analysis</a:t>
            </a:r>
            <a:endParaRPr/>
          </a:p>
        </p:txBody>
      </p:sp>
      <p:sp>
        <p:nvSpPr>
          <p:cNvPr id="207" name="Google Shape;207;p9"/>
          <p:cNvSpPr txBox="1"/>
          <p:nvPr>
            <p:ph idx="1" type="body"/>
          </p:nvPr>
        </p:nvSpPr>
        <p:spPr>
          <a:xfrm>
            <a:off x="539496" y="4023360"/>
            <a:ext cx="7964424" cy="171875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Insight : </a:t>
            </a:r>
            <a:endParaRPr/>
          </a:p>
          <a:p>
            <a:pPr indent="0" lvl="0" marL="0" rtl="0" algn="l">
              <a:spcBef>
                <a:spcPts val="1000"/>
              </a:spcBef>
              <a:spcAft>
                <a:spcPts val="0"/>
              </a:spcAft>
              <a:buSzPts val="1440"/>
              <a:buNone/>
            </a:pPr>
            <a:r>
              <a:rPr lang="en-US"/>
              <a:t>Cases surged in 2021 and 2022, peaking at ~3200 per lakh, but slowed down afterward.</a:t>
            </a:r>
            <a:endParaRPr/>
          </a:p>
          <a:p>
            <a:pPr indent="0" lvl="0" marL="0" rtl="0" algn="l">
              <a:spcBef>
                <a:spcPts val="1000"/>
              </a:spcBef>
              <a:spcAft>
                <a:spcPts val="0"/>
              </a:spcAft>
              <a:buSzPts val="1440"/>
              <a:buNone/>
            </a:pPr>
            <a:r>
              <a:rPr lang="en-US"/>
              <a:t>Deaths were concentrated in the Delta wave (2021), reaching ~37 per lakh, and did not rise much after.</a:t>
            </a:r>
            <a:endParaRPr/>
          </a:p>
        </p:txBody>
      </p:sp>
      <p:pic>
        <p:nvPicPr>
          <p:cNvPr id="208" name="Google Shape;208;p9"/>
          <p:cNvPicPr preferRelativeResize="0"/>
          <p:nvPr/>
        </p:nvPicPr>
        <p:blipFill rotWithShape="1">
          <a:blip r:embed="rId4">
            <a:alphaModFix/>
          </a:blip>
          <a:srcRect b="0" l="0" r="0" t="0"/>
          <a:stretch/>
        </p:blipFill>
        <p:spPr>
          <a:xfrm>
            <a:off x="0" y="1261872"/>
            <a:ext cx="4754880" cy="2377440"/>
          </a:xfrm>
          <a:prstGeom prst="rect">
            <a:avLst/>
          </a:prstGeom>
          <a:noFill/>
          <a:ln>
            <a:noFill/>
          </a:ln>
        </p:spPr>
      </p:pic>
      <p:pic>
        <p:nvPicPr>
          <p:cNvPr id="209" name="Google Shape;209;p9"/>
          <p:cNvPicPr preferRelativeResize="0"/>
          <p:nvPr/>
        </p:nvPicPr>
        <p:blipFill rotWithShape="1">
          <a:blip r:embed="rId5">
            <a:alphaModFix/>
          </a:blip>
          <a:srcRect b="0" l="0" r="0" t="0"/>
          <a:stretch/>
        </p:blipFill>
        <p:spPr>
          <a:xfrm>
            <a:off x="4315762" y="1261872"/>
            <a:ext cx="4755292" cy="237764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10"/>
          <p:cNvSpPr txBox="1"/>
          <p:nvPr>
            <p:ph type="title"/>
          </p:nvPr>
        </p:nvSpPr>
        <p:spPr>
          <a:xfrm>
            <a:off x="326135" y="271272"/>
            <a:ext cx="6605017" cy="7897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India Cases , Deaths &amp; Survive</a:t>
            </a:r>
            <a:endParaRPr>
              <a:latin typeface="Marcellus"/>
              <a:ea typeface="Marcellus"/>
              <a:cs typeface="Marcellus"/>
              <a:sym typeface="Marcellus"/>
            </a:endParaRPr>
          </a:p>
        </p:txBody>
      </p:sp>
      <p:sp>
        <p:nvSpPr>
          <p:cNvPr id="215" name="Google Shape;215;p10"/>
          <p:cNvSpPr txBox="1"/>
          <p:nvPr>
            <p:ph idx="1" type="body"/>
          </p:nvPr>
        </p:nvSpPr>
        <p:spPr>
          <a:xfrm>
            <a:off x="566928" y="4654296"/>
            <a:ext cx="8119872" cy="1471867"/>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Insight: The impact of COVID-19 in India was severe in absolute numbers, but relative to the huge population, the proportion infected was small (~3%).</a:t>
            </a:r>
            <a:endParaRPr/>
          </a:p>
          <a:p>
            <a:pPr indent="-342900" lvl="0" marL="342900" rtl="0" algn="l">
              <a:spcBef>
                <a:spcPts val="1000"/>
              </a:spcBef>
              <a:spcAft>
                <a:spcPts val="0"/>
              </a:spcAft>
              <a:buSzPts val="1440"/>
              <a:buChar char="►"/>
            </a:pPr>
            <a:r>
              <a:rPr lang="en-US"/>
              <a:t>The recovery rate was very high (~99%), with deaths making up just over 1% of total cases.</a:t>
            </a:r>
            <a:endParaRPr/>
          </a:p>
        </p:txBody>
      </p:sp>
      <p:pic>
        <p:nvPicPr>
          <p:cNvPr id="216" name="Google Shape;216;p10"/>
          <p:cNvPicPr preferRelativeResize="0"/>
          <p:nvPr/>
        </p:nvPicPr>
        <p:blipFill rotWithShape="1">
          <a:blip r:embed="rId4">
            <a:alphaModFix/>
          </a:blip>
          <a:srcRect b="0" l="0" r="0" t="0"/>
          <a:stretch/>
        </p:blipFill>
        <p:spPr>
          <a:xfrm>
            <a:off x="457200" y="1309717"/>
            <a:ext cx="3941072" cy="2955804"/>
          </a:xfrm>
          <a:prstGeom prst="rect">
            <a:avLst/>
          </a:prstGeom>
          <a:noFill/>
          <a:ln>
            <a:noFill/>
          </a:ln>
        </p:spPr>
      </p:pic>
      <p:pic>
        <p:nvPicPr>
          <p:cNvPr id="217" name="Google Shape;217;p10"/>
          <p:cNvPicPr preferRelativeResize="0"/>
          <p:nvPr/>
        </p:nvPicPr>
        <p:blipFill rotWithShape="1">
          <a:blip r:embed="rId5">
            <a:alphaModFix/>
          </a:blip>
          <a:srcRect b="0" l="0" r="0" t="0"/>
          <a:stretch/>
        </p:blipFill>
        <p:spPr>
          <a:xfrm>
            <a:off x="4748443" y="1380557"/>
            <a:ext cx="3938357" cy="28131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p11"/>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India Daily New Cases &amp; Deaths</a:t>
            </a:r>
            <a:endParaRPr/>
          </a:p>
        </p:txBody>
      </p:sp>
      <p:sp>
        <p:nvSpPr>
          <p:cNvPr id="223" name="Google Shape;223;p11"/>
          <p:cNvSpPr txBox="1"/>
          <p:nvPr>
            <p:ph idx="1" type="body"/>
          </p:nvPr>
        </p:nvSpPr>
        <p:spPr>
          <a:xfrm>
            <a:off x="493776" y="5820314"/>
            <a:ext cx="8156448" cy="59404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t/>
            </a:r>
            <a:endParaRPr/>
          </a:p>
        </p:txBody>
      </p:sp>
      <p:pic>
        <p:nvPicPr>
          <p:cNvPr id="224" name="Google Shape;224;p11"/>
          <p:cNvPicPr preferRelativeResize="0"/>
          <p:nvPr/>
        </p:nvPicPr>
        <p:blipFill rotWithShape="1">
          <a:blip r:embed="rId4">
            <a:alphaModFix/>
          </a:blip>
          <a:srcRect b="0" l="0" r="0" t="0"/>
          <a:stretch/>
        </p:blipFill>
        <p:spPr>
          <a:xfrm>
            <a:off x="1179576" y="1856550"/>
            <a:ext cx="6784848" cy="33924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 name="Shape 228"/>
        <p:cNvGrpSpPr/>
        <p:nvPr/>
      </p:nvGrpSpPr>
      <p:grpSpPr>
        <a:xfrm>
          <a:off x="0" y="0"/>
          <a:ext cx="0" cy="0"/>
          <a:chOff x="0" y="0"/>
          <a:chExt cx="0" cy="0"/>
        </a:xfrm>
      </p:grpSpPr>
      <p:sp>
        <p:nvSpPr>
          <p:cNvPr id="229" name="Google Shape;229;p12"/>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Deaths Per Lakh in World</a:t>
            </a:r>
            <a:endParaRPr/>
          </a:p>
        </p:txBody>
      </p:sp>
      <p:sp>
        <p:nvSpPr>
          <p:cNvPr id="230" name="Google Shape;230;p12"/>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4" name="Shape 234"/>
        <p:cNvGrpSpPr/>
        <p:nvPr/>
      </p:nvGrpSpPr>
      <p:grpSpPr>
        <a:xfrm>
          <a:off x="0" y="0"/>
          <a:ext cx="0" cy="0"/>
          <a:chOff x="0" y="0"/>
          <a:chExt cx="0" cy="0"/>
        </a:xfrm>
      </p:grpSpPr>
      <p:sp>
        <p:nvSpPr>
          <p:cNvPr id="235" name="Google Shape;235;p13"/>
          <p:cNvSpPr txBox="1"/>
          <p:nvPr>
            <p:ph type="title"/>
          </p:nvPr>
        </p:nvSpPr>
        <p:spPr>
          <a:xfrm>
            <a:off x="457200" y="868998"/>
            <a:ext cx="82296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Key Insights &amp; Takeaways</a:t>
            </a:r>
            <a:endParaRPr/>
          </a:p>
        </p:txBody>
      </p:sp>
      <p:sp>
        <p:nvSpPr>
          <p:cNvPr id="236" name="Google Shape;236;p13"/>
          <p:cNvSpPr txBox="1"/>
          <p:nvPr>
            <p:ph idx="1" type="body"/>
          </p:nvPr>
        </p:nvSpPr>
        <p:spPr>
          <a:xfrm>
            <a:off x="457200" y="2450593"/>
            <a:ext cx="8010144" cy="287121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Global recovery rate is high</a:t>
            </a:r>
            <a:endParaRPr/>
          </a:p>
          <a:p>
            <a:pPr indent="-342900" lvl="0" marL="342900" rtl="0" algn="l">
              <a:spcBef>
                <a:spcPts val="1000"/>
              </a:spcBef>
              <a:spcAft>
                <a:spcPts val="0"/>
              </a:spcAft>
              <a:buSzPts val="1440"/>
              <a:buChar char="►"/>
            </a:pPr>
            <a:r>
              <a:rPr lang="en-US"/>
              <a:t>Disparities in death rates across regions</a:t>
            </a:r>
            <a:endParaRPr/>
          </a:p>
          <a:p>
            <a:pPr indent="-342900" lvl="0" marL="342900" rtl="0" algn="l">
              <a:spcBef>
                <a:spcPts val="1000"/>
              </a:spcBef>
              <a:spcAft>
                <a:spcPts val="0"/>
              </a:spcAft>
              <a:buSzPts val="1440"/>
              <a:buChar char="►"/>
            </a:pPr>
            <a:r>
              <a:rPr lang="en-US"/>
              <a:t>India’s pandemic curve stabilized post-2022</a:t>
            </a:r>
            <a:endParaRPr/>
          </a:p>
          <a:p>
            <a:pPr indent="-342900" lvl="0" marL="342900" rtl="0" algn="l">
              <a:spcBef>
                <a:spcPts val="1000"/>
              </a:spcBef>
              <a:spcAft>
                <a:spcPts val="0"/>
              </a:spcAft>
              <a:buSzPts val="1440"/>
              <a:buChar char="►"/>
            </a:pPr>
            <a:r>
              <a:rPr lang="en-US"/>
              <a:t>Policy and healthcare infrastructure played a major role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0" name="Shape 240"/>
        <p:cNvGrpSpPr/>
        <p:nvPr/>
      </p:nvGrpSpPr>
      <p:grpSpPr>
        <a:xfrm>
          <a:off x="0" y="0"/>
          <a:ext cx="0" cy="0"/>
          <a:chOff x="0" y="0"/>
          <a:chExt cx="0" cy="0"/>
        </a:xfrm>
      </p:grpSpPr>
      <p:sp>
        <p:nvSpPr>
          <p:cNvPr id="241" name="Google Shape;241;p14"/>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Marcellus"/>
              <a:buNone/>
            </a:pPr>
            <a:r>
              <a:rPr lang="en-US">
                <a:latin typeface="Marcellus"/>
                <a:ea typeface="Marcellus"/>
                <a:cs typeface="Marcellus"/>
                <a:sym typeface="Marcellus"/>
              </a:rPr>
              <a:t>Thank You</a:t>
            </a:r>
            <a:endParaRPr/>
          </a:p>
        </p:txBody>
      </p:sp>
      <p:sp>
        <p:nvSpPr>
          <p:cNvPr id="242" name="Google Shape;242;p14"/>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Q&amp;A prompt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MAYUR MAKVANA</dc:creator>
</cp:coreProperties>
</file>